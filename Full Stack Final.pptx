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74" r:id="rId8"/>
    <p:sldId id="262" r:id="rId9"/>
    <p:sldId id="263" r:id="rId10"/>
    <p:sldId id="264" r:id="rId11"/>
    <p:sldId id="266" r:id="rId12"/>
    <p:sldId id="269" r:id="rId13"/>
    <p:sldId id="267" r:id="rId14"/>
    <p:sldId id="268" r:id="rId15"/>
    <p:sldId id="275" r:id="rId16"/>
    <p:sldId id="276" r:id="rId17"/>
    <p:sldId id="273" r:id="rId18"/>
    <p:sldId id="270" r:id="rId19"/>
    <p:sldId id="265" r:id="rId20"/>
  </p:sldIdLst>
  <p:sldSz cx="18288000" cy="10287000"/>
  <p:notesSz cx="6858000" cy="9144000"/>
  <p:embeddedFontLst>
    <p:embeddedFont>
      <p:font typeface="Bookman Old Style" panose="02050604050505020204" pitchFamily="18" charset="0"/>
      <p:regular r:id="rId22"/>
      <p:bold r:id="rId23"/>
      <p:italic r:id="rId24"/>
      <p:boldItalic r:id="rId25"/>
    </p:embeddedFont>
    <p:embeddedFont>
      <p:font typeface="Cambria" panose="02040503050406030204" pitchFamily="18" charset="0"/>
      <p:regular r:id="rId26"/>
      <p:bold r:id="rId27"/>
      <p:italic r:id="rId28"/>
      <p:boldItalic r:id="rId29"/>
    </p:embeddedFont>
    <p:embeddedFont>
      <p:font typeface="Gotham" pitchFamily="2" charset="0"/>
      <p:regular r:id="rId30"/>
    </p:embeddedFont>
    <p:embeddedFont>
      <p:font typeface="Gotham Bold Italics" panose="02000000000000000000" pitchFamily="2" charset="0"/>
      <p:regular r:id="rId31"/>
      <p:bold r:id="rId32"/>
      <p:italic r:id="rId33"/>
      <p:boldItalic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 autoAdjust="0"/>
    <p:restoredTop sz="94598" autoAdjust="0"/>
  </p:normalViewPr>
  <p:slideViewPr>
    <p:cSldViewPr>
      <p:cViewPr varScale="1">
        <p:scale>
          <a:sx n="79" d="100"/>
          <a:sy n="79" d="100"/>
        </p:scale>
        <p:origin x="264" y="2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21" Type="http://schemas.openxmlformats.org/officeDocument/2006/relationships/notesMaster" Target="notesMasters/notesMaster1.xml"/><Relationship Id="rId34" Type="http://schemas.openxmlformats.org/officeDocument/2006/relationships/font" Target="fonts/font1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0A2A00-A61C-B04B-8645-FE6FA69E9910}" type="datetimeFigureOut">
              <a:rPr lang="en-US" smtClean="0"/>
              <a:t>5/6/26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BB0713-7CFC-8A4E-A0DA-03C6363C6A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929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B0713-7CFC-8A4E-A0DA-03C6363C6A5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601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9772" y="16492"/>
            <a:ext cx="4131816" cy="178462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 SEMESTER PROJECT REVIEW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06-05-2026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501640" y="6057900"/>
            <a:ext cx="15784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JOB PORTAL MANAGEMENT SYSTEM</a:t>
            </a:r>
            <a:endParaRPr lang="en-IN" sz="32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93870" y="7800539"/>
            <a:ext cx="9067800" cy="2084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CHERIPALLY SURYA SRINIDHI – VTU24957 – 23UECS0691</a:t>
            </a:r>
            <a:endParaRPr lang="en-IN" sz="30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45035" y="7818586"/>
            <a:ext cx="6914603" cy="2084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Dr. S. Hemamalini – Assistant Professor(Senior Grade)-</a:t>
            </a:r>
            <a:r>
              <a:rPr lang="en-US" sz="3000" dirty="0" err="1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M.E,Ph.D</a:t>
            </a:r>
            <a:endParaRPr lang="en-IN" sz="30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9 – Industry, Innovation and Infrastructure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 dirty="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706082" y="599892"/>
            <a:ext cx="15849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2209800" y="1638300"/>
            <a:ext cx="15082325" cy="139730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job hunting is often fragmented, lacking real-time tracking and intuitive guidance for candidates.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creates a stressful disconnect between talented graduates and employers struggling to manage applicants.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Job Portal solves this by providing a centralized, intelligent platform bridging students and recruiters.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is important because it streamlines hiring, significantly reducing friction for both parties.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real world, immediate feedback is vital; our automated email notifications ensure candidates are never left in the dark.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integration of a smart AI Chatbot provides instant, 24/7 assistance to help users navigate and apply seamlessly.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Employers benefit from a powerful dashboard to effortlessly post jobs, review resumes, and update applicant statuses.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system is a modern, scalable web application built with Spring Boot to revolutionize career networking.</a:t>
            </a:r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grpSp>
        <p:nvGrpSpPr>
          <p:cNvPr id="6" name="Group 37">
            <a:extLst>
              <a:ext uri="{FF2B5EF4-FFF2-40B4-BE49-F238E27FC236}">
                <a16:creationId xmlns:a16="http://schemas.microsoft.com/office/drawing/2014/main" id="{E5F04D9D-308A-3183-6836-B0EC5388A6D1}"/>
              </a:ext>
            </a:extLst>
          </p:cNvPr>
          <p:cNvGrpSpPr/>
          <p:nvPr/>
        </p:nvGrpSpPr>
        <p:grpSpPr>
          <a:xfrm>
            <a:off x="14020800" y="-8142801"/>
            <a:ext cx="10994424" cy="10994424"/>
            <a:chOff x="0" y="0"/>
            <a:chExt cx="812800" cy="812800"/>
          </a:xfrm>
        </p:grpSpPr>
        <p:sp>
          <p:nvSpPr>
            <p:cNvPr id="7" name="Freeform 38">
              <a:extLst>
                <a:ext uri="{FF2B5EF4-FFF2-40B4-BE49-F238E27FC236}">
                  <a16:creationId xmlns:a16="http://schemas.microsoft.com/office/drawing/2014/main" id="{DD6C4498-CEE7-2D27-F0C3-97EBEC11E86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0" name="TextBox 39">
              <a:extLst>
                <a:ext uri="{FF2B5EF4-FFF2-40B4-BE49-F238E27FC236}">
                  <a16:creationId xmlns:a16="http://schemas.microsoft.com/office/drawing/2014/main" id="{2238B763-36E8-D0F8-087D-09B56E0E974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0" y="659022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2209800" y="1638300"/>
            <a:ext cx="15082325" cy="135113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current recruitment process is often highly manual, fragmented, and inefficient for both applicants and employers.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seekers struggle to find relevant roles, track application statuses, and get immediate answers to their queries.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Employers face difficulties managing large volumes of applicants and communicating updates in a timely manner.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lack intelligent automation, real-time feedback, and interactive tools like spatial mapping or AI assistance.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leads to prolonged hiring cycles, missed opportunities, and poor user experiences for both parties.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there is a critical need for a centralized, fully automated Job Portal System.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system must streamline job posting, application tracking, and communication through automated email workflows.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integrating AI assistance and interactive mapping, the platform will significantly improve performance, accuracy, and overall engagement.</a:t>
            </a:r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grpSp>
        <p:nvGrpSpPr>
          <p:cNvPr id="3" name="Group 37">
            <a:extLst>
              <a:ext uri="{FF2B5EF4-FFF2-40B4-BE49-F238E27FC236}">
                <a16:creationId xmlns:a16="http://schemas.microsoft.com/office/drawing/2014/main" id="{2FF1B020-E599-4243-0745-94658C4B75D2}"/>
              </a:ext>
            </a:extLst>
          </p:cNvPr>
          <p:cNvGrpSpPr/>
          <p:nvPr/>
        </p:nvGrpSpPr>
        <p:grpSpPr>
          <a:xfrm>
            <a:off x="14020800" y="-8142801"/>
            <a:ext cx="10994424" cy="10994424"/>
            <a:chOff x="0" y="0"/>
            <a:chExt cx="812800" cy="812800"/>
          </a:xfrm>
        </p:grpSpPr>
        <p:sp>
          <p:nvSpPr>
            <p:cNvPr id="4" name="Freeform 38">
              <a:extLst>
                <a:ext uri="{FF2B5EF4-FFF2-40B4-BE49-F238E27FC236}">
                  <a16:creationId xmlns:a16="http://schemas.microsoft.com/office/drawing/2014/main" id="{8D5722D6-1AB3-AFC3-50FD-97E032A64A8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5" name="TextBox 39">
              <a:extLst>
                <a:ext uri="{FF2B5EF4-FFF2-40B4-BE49-F238E27FC236}">
                  <a16:creationId xmlns:a16="http://schemas.microsoft.com/office/drawing/2014/main" id="{8C494B58-803A-A1A0-E7D1-2C6625F9E9EF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92527" y="56384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37">
            <a:extLst>
              <a:ext uri="{FF2B5EF4-FFF2-40B4-BE49-F238E27FC236}">
                <a16:creationId xmlns:a16="http://schemas.microsoft.com/office/drawing/2014/main" id="{CF58B49F-CF64-89F9-D6CB-EEBCFCA5C762}"/>
              </a:ext>
            </a:extLst>
          </p:cNvPr>
          <p:cNvGrpSpPr/>
          <p:nvPr/>
        </p:nvGrpSpPr>
        <p:grpSpPr>
          <a:xfrm>
            <a:off x="14020800" y="-8142801"/>
            <a:ext cx="10994424" cy="10994424"/>
            <a:chOff x="0" y="0"/>
            <a:chExt cx="812800" cy="812800"/>
          </a:xfrm>
        </p:grpSpPr>
        <p:sp>
          <p:nvSpPr>
            <p:cNvPr id="4" name="Freeform 38">
              <a:extLst>
                <a:ext uri="{FF2B5EF4-FFF2-40B4-BE49-F238E27FC236}">
                  <a16:creationId xmlns:a16="http://schemas.microsoft.com/office/drawing/2014/main" id="{BFE0BB44-45F2-A4A6-9B89-0E8576D6182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5" name="TextBox 39">
              <a:extLst>
                <a:ext uri="{FF2B5EF4-FFF2-40B4-BE49-F238E27FC236}">
                  <a16:creationId xmlns:a16="http://schemas.microsoft.com/office/drawing/2014/main" id="{B7E50780-1EA1-5613-9DE5-1713C4D8E91F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C6502AF-CCC8-31E6-FA60-391BF4CC2DF4}"/>
              </a:ext>
            </a:extLst>
          </p:cNvPr>
          <p:cNvSpPr txBox="1"/>
          <p:nvPr/>
        </p:nvSpPr>
        <p:spPr>
          <a:xfrm>
            <a:off x="2209800" y="1638300"/>
            <a:ext cx="15082325" cy="102181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Centralized Platform: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To build an automated, fully-responsive Job Portal with dedicated dashboards that seamlessly connect students with prospective employers.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Intelligent Features: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To enhance user experience by implementing an AI-powered Chatbot for instant assistance and interactive mapping for localized job discovery.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Streamline Communication: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To optimize the hiring workflow by creating a robust, real-time email notification system that tracks application statuses and delivers instant updates.</a:t>
            </a:r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2209800" y="1638300"/>
            <a:ext cx="15082325" cy="135421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Comprehensive Solution: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 centralized, automated web portal built with Spring Boot that connects students and employers in a unified ecosystem.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Dedicated Dashboards: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Provides tailored, intuitive interfaces for both students (to apply) and employers (to manage applicants), completely eliminating manual tracking.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Communication: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Replaces disjointed, manual follow-ups with an integrated SMTP notification system that sends instant application confirmations and status updates.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Assistance: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Integrates a Google Gemini-powered AI Chatbot to provide users with 24/7, context-aware support and navigation guidance.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Geospatial Discovery: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Incorporates an interactive spatial mapping system, allowing students to visualize job locations and make geographically informed career decisions.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Integrity &amp; Security: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Solves data loss and fragmentation issues by utilizing a robust, persistent MySQL backend for secure data storage.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Streamlined Workflow: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Significantly reduces the hiring cycle time by allowing employers to post roles, review uploaded resumes, and update applicant statuses with a single click.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User Experience: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Offers a distinct advantage over outdated legacy platforms through a sleek, responsive design featuring premium aesthetics and seamless user journeys.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4427" y="599892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37">
            <a:extLst>
              <a:ext uri="{FF2B5EF4-FFF2-40B4-BE49-F238E27FC236}">
                <a16:creationId xmlns:a16="http://schemas.microsoft.com/office/drawing/2014/main" id="{4F283DDE-1616-62AE-4C34-D40B631B4EC7}"/>
              </a:ext>
            </a:extLst>
          </p:cNvPr>
          <p:cNvGrpSpPr/>
          <p:nvPr/>
        </p:nvGrpSpPr>
        <p:grpSpPr>
          <a:xfrm>
            <a:off x="14020800" y="-8142801"/>
            <a:ext cx="10994424" cy="10994424"/>
            <a:chOff x="0" y="0"/>
            <a:chExt cx="812800" cy="812800"/>
          </a:xfrm>
        </p:grpSpPr>
        <p:sp>
          <p:nvSpPr>
            <p:cNvPr id="3" name="Freeform 38">
              <a:extLst>
                <a:ext uri="{FF2B5EF4-FFF2-40B4-BE49-F238E27FC236}">
                  <a16:creationId xmlns:a16="http://schemas.microsoft.com/office/drawing/2014/main" id="{1277AC33-DE92-DEAD-3684-F9E584FE7CE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" name="TextBox 39">
              <a:extLst>
                <a:ext uri="{FF2B5EF4-FFF2-40B4-BE49-F238E27FC236}">
                  <a16:creationId xmlns:a16="http://schemas.microsoft.com/office/drawing/2014/main" id="{56B25065-0B92-DE42-94C2-2ECB8CBB349C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0" y="486639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F9D4B0-38FE-DBA4-164D-1745B68379A5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BCD2C95-1475-4145-B09B-BB2E6FB83F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987111"/>
            <a:ext cx="15126691" cy="734738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A2771-E8FC-C567-C636-54AEF67BF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49948B0E-2FA9-9D46-10FD-057213ADC6CF}"/>
              </a:ext>
            </a:extLst>
          </p:cNvPr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C3079FE4-8A24-9968-464C-97653F23B98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521A7498-23CE-4D84-DFD0-7EAE24B567A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EBF7F818-3283-8C09-E3B7-1DE97DB2479B}"/>
              </a:ext>
            </a:extLst>
          </p:cNvPr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BA2FD279-3FFA-2ADB-D920-CEA3B804733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58861F2D-906D-8AB7-3A1E-7D5F52DC60F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6FAF0562-B73F-082D-C211-AEF11309CEF4}"/>
              </a:ext>
            </a:extLst>
          </p:cNvPr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CFE12A93-C6FD-206F-9BF1-69D626D723D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23EF5C1C-569E-5BEA-93D9-90A59B495A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EE927687-2119-B78C-113D-CFBF07949AA2}"/>
              </a:ext>
            </a:extLst>
          </p:cNvPr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28F33550-482F-707C-2793-293C0D3913F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B7B33779-6013-A5D8-FE73-571A011188A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D517B971-5F79-52DF-1697-76DFECF1E8DC}"/>
              </a:ext>
            </a:extLst>
          </p:cNvPr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15E8E317-4B3B-64CA-660E-A89CA6295F5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72EB1508-9610-BB50-F353-4FF80623672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F2A5902F-C96F-5C3F-F494-8D232961A308}"/>
              </a:ext>
            </a:extLst>
          </p:cNvPr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94346DEF-C32C-4EDB-1E6D-EC348EEB284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AF418081-F4AC-26E1-8A21-AA699D6A636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51E4F77F-67B4-B63A-BB46-D52B9E3BCD4D}"/>
              </a:ext>
            </a:extLst>
          </p:cNvPr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425CA8F5-E3FA-22B6-CA13-57D788E1D31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466DD692-A804-93F8-77E3-11AD2612B9C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C56920B1-5553-64BA-703C-B604ED72BD9E}"/>
              </a:ext>
            </a:extLst>
          </p:cNvPr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49D331D5-803A-096C-D3F7-51E1B16C573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EEF6876E-1947-4348-BA01-CCEF8F92911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EB2EC4EB-9EAC-E22D-A0F0-FF8444CD3597}"/>
              </a:ext>
            </a:extLst>
          </p:cNvPr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0EC94D20-8C65-763E-D2A5-A1872420870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7C1C8DE4-E420-7075-9477-717FC4409CF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>
            <a:extLst>
              <a:ext uri="{FF2B5EF4-FFF2-40B4-BE49-F238E27FC236}">
                <a16:creationId xmlns:a16="http://schemas.microsoft.com/office/drawing/2014/main" id="{1F3CBA67-BB9D-0AD6-334E-DC0903C515C9}"/>
              </a:ext>
            </a:extLst>
          </p:cNvPr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>
              <a:extLst>
                <a:ext uri="{FF2B5EF4-FFF2-40B4-BE49-F238E27FC236}">
                  <a16:creationId xmlns:a16="http://schemas.microsoft.com/office/drawing/2014/main" id="{C1B39046-C8E5-601F-83D5-FE23AA142EB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>
              <a:extLst>
                <a:ext uri="{FF2B5EF4-FFF2-40B4-BE49-F238E27FC236}">
                  <a16:creationId xmlns:a16="http://schemas.microsoft.com/office/drawing/2014/main" id="{932E7BC9-703B-0B3C-70A0-9F7869D4DBB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004891BD-7E0B-ED6A-3FEB-66A490DCD4B7}"/>
              </a:ext>
            </a:extLst>
          </p:cNvPr>
          <p:cNvSpPr txBox="1"/>
          <p:nvPr/>
        </p:nvSpPr>
        <p:spPr>
          <a:xfrm>
            <a:off x="0" y="716582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DA4138E-9161-CA10-51B0-EB2E83129F3C}"/>
              </a:ext>
            </a:extLst>
          </p:cNvPr>
          <p:cNvSpPr txBox="1"/>
          <p:nvPr/>
        </p:nvSpPr>
        <p:spPr>
          <a:xfrm>
            <a:off x="2176975" y="2211861"/>
            <a:ext cx="15082325" cy="95102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Users interact with the frontend by submitting Login credentials for authentication, entering Job Details to create new postings, and executing Search queries to find relevant opportunities.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 (Spring Boot Server):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The core server acts as the brain of the application. It receives the inputs to securely Validate Data, efficiently Handle Requests from users, and Process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Operations such as matching applications to job postings.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(MySQL Database):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 robust relational database acts as the persistent storage layer. It securely categorizes and holds all critical system records, specifically maintaining tables for Users, Jobs, and Applications.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After processing, the system dynamically generates data back to the user interface, displaying available Job Listings, organized lists of Applicants for employers, and a comprehensive Dashboard overview.</a:t>
            </a:r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9912075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58115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04F3B99-A5D2-54DC-51CD-4E86A99D3EA2}"/>
              </a:ext>
            </a:extLst>
          </p:cNvPr>
          <p:cNvSpPr txBox="1"/>
          <p:nvPr/>
        </p:nvSpPr>
        <p:spPr>
          <a:xfrm>
            <a:off x="2209800" y="1638300"/>
            <a:ext cx="1508232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grpSp>
        <p:nvGrpSpPr>
          <p:cNvPr id="2" name="Group 37">
            <a:extLst>
              <a:ext uri="{FF2B5EF4-FFF2-40B4-BE49-F238E27FC236}">
                <a16:creationId xmlns:a16="http://schemas.microsoft.com/office/drawing/2014/main" id="{5FF0B2D0-7843-1835-7081-F69B51BDD5B8}"/>
              </a:ext>
            </a:extLst>
          </p:cNvPr>
          <p:cNvGrpSpPr/>
          <p:nvPr/>
        </p:nvGrpSpPr>
        <p:grpSpPr>
          <a:xfrm>
            <a:off x="14020800" y="-8142801"/>
            <a:ext cx="10994424" cy="10994424"/>
            <a:chOff x="0" y="0"/>
            <a:chExt cx="812800" cy="812800"/>
          </a:xfrm>
        </p:grpSpPr>
        <p:sp>
          <p:nvSpPr>
            <p:cNvPr id="3" name="Freeform 38">
              <a:extLst>
                <a:ext uri="{FF2B5EF4-FFF2-40B4-BE49-F238E27FC236}">
                  <a16:creationId xmlns:a16="http://schemas.microsoft.com/office/drawing/2014/main" id="{1E43E843-CEEF-9B58-BAB6-E0FEFB947A9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" name="TextBox 39">
              <a:extLst>
                <a:ext uri="{FF2B5EF4-FFF2-40B4-BE49-F238E27FC236}">
                  <a16:creationId xmlns:a16="http://schemas.microsoft.com/office/drawing/2014/main" id="{B7A3D907-9F7C-D8D3-DE54-E07FC037F8CA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5C00722A-39D0-E4D0-E2A5-2381E95205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2160" y="1638300"/>
            <a:ext cx="14068440" cy="76233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676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209800" y="1638300"/>
            <a:ext cx="15082325" cy="1446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- HTML, CSS, JavaScript,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Thymeleaf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- Java, Spring Boot, Spring MVC, Spring Data JPA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- MySQL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Third-Party APIs:</a:t>
            </a:r>
          </a:p>
          <a:p>
            <a:pPr lvl="1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- </a:t>
            </a:r>
            <a:r>
              <a:rPr lang="en-US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Gemini API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(for the intelligent AI Chatbot)</a:t>
            </a:r>
          </a:p>
          <a:p>
            <a:pPr lvl="1"/>
            <a:r>
              <a:rPr lang="en-US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- OpenStreetMap / Leaflet API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(for spatial map rendering and geocoding)</a:t>
            </a:r>
          </a:p>
          <a:p>
            <a:pPr lvl="1"/>
            <a:r>
              <a:rPr lang="en-US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- Gmail SMTP Service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(for automated email notifications)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 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- Visual Studio Code, MySQL Workbench, Spring Initializer, Maven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Hardware/Software Requirements: 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- System with minimum 4GB RAM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- JDK 17 or above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- Spring Boot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- MySQL Server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- Web Browser (Chrome)</a:t>
            </a:r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grpSp>
        <p:nvGrpSpPr>
          <p:cNvPr id="2" name="Group 37">
            <a:extLst>
              <a:ext uri="{FF2B5EF4-FFF2-40B4-BE49-F238E27FC236}">
                <a16:creationId xmlns:a16="http://schemas.microsoft.com/office/drawing/2014/main" id="{4D847D41-4470-420F-942D-93587F92804D}"/>
              </a:ext>
            </a:extLst>
          </p:cNvPr>
          <p:cNvGrpSpPr/>
          <p:nvPr/>
        </p:nvGrpSpPr>
        <p:grpSpPr>
          <a:xfrm>
            <a:off x="14401800" y="-2955537"/>
            <a:ext cx="10994424" cy="10994424"/>
            <a:chOff x="0" y="0"/>
            <a:chExt cx="812800" cy="812800"/>
          </a:xfrm>
        </p:grpSpPr>
        <p:sp>
          <p:nvSpPr>
            <p:cNvPr id="3" name="Freeform 38">
              <a:extLst>
                <a:ext uri="{FF2B5EF4-FFF2-40B4-BE49-F238E27FC236}">
                  <a16:creationId xmlns:a16="http://schemas.microsoft.com/office/drawing/2014/main" id="{A4FD480D-1445-2C4B-DB46-82271E5DF7B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" name="TextBox 39">
              <a:extLst>
                <a:ext uri="{FF2B5EF4-FFF2-40B4-BE49-F238E27FC236}">
                  <a16:creationId xmlns:a16="http://schemas.microsoft.com/office/drawing/2014/main" id="{26A1CA4A-B4D1-F4E6-0933-879F4CA7F8FA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735588" y="453057"/>
            <a:ext cx="15697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209800" y="1638300"/>
            <a:ext cx="15082325" cy="9571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8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User Management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Handles role-based registration (Student/Employer), secure login authentication, and profile creation, including resume uploads.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Core Processing (Job &amp; Application Management)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Implements the primary business logic, allowing employers to post jobs and students to seamlessly search, filter, and apply for opportunities.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Database &amp; File Management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Manages the persistent storage of user profiles, job data, and application statuses securely using MySQL, while safely handling file system operations for uploaded resumes.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Innovative Module (AI &amp; Mapping Integration)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Integrates Google Gemini API for an intelligent 24/7 chatbot assistant, and utilizes OpenStreetMap/Leaflet APIs for dynamic job location visualization and reverse geocoding.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5: Notification &amp; Tracking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Powers the automated email workflow using Gmail SMTP to send instant application confirmations and deliver real-time status updates to candidates.</a:t>
            </a:r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150228" y="566906"/>
            <a:ext cx="159875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EC6A4DA-6D4B-3E6A-CF92-E543DD7AFBF5}"/>
              </a:ext>
            </a:extLst>
          </p:cNvPr>
          <p:cNvSpPr txBox="1"/>
          <p:nvPr/>
        </p:nvSpPr>
        <p:spPr>
          <a:xfrm>
            <a:off x="1907637" y="1680245"/>
            <a:ext cx="15082325" cy="100335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 Page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the main entry page of the Job Portal where users can navigate to login or sign up.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provides an overview of the platform and allows users to explore job opportunities or get started.</a:t>
            </a:r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31C13080-53FD-C936-068B-989118E195B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AutoShape 6">
            <a:extLst>
              <a:ext uri="{FF2B5EF4-FFF2-40B4-BE49-F238E27FC236}">
                <a16:creationId xmlns:a16="http://schemas.microsoft.com/office/drawing/2014/main" id="{8E976CF2-EBC7-CD7A-4388-4A17646E18A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144000" y="51435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2B0AA3-2911-BD72-B8AD-624803D2AC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62600" y="2365382"/>
            <a:ext cx="7239000" cy="4860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199" y="19050"/>
              <a:ext cx="7366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9(A)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295961" y="534741"/>
            <a:ext cx="1630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6F2C30-13B1-3754-C147-D58A899BC459}"/>
              </a:ext>
            </a:extLst>
          </p:cNvPr>
          <p:cNvSpPr txBox="1"/>
          <p:nvPr/>
        </p:nvSpPr>
        <p:spPr>
          <a:xfrm>
            <a:off x="2209800" y="1638300"/>
            <a:ext cx="15082325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Page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5B54108-1BD0-F9D5-082F-77104E13F8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44388" y="2648112"/>
            <a:ext cx="6809944" cy="431260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A1F7691-DC96-0898-D409-773A3FAE3BC6}"/>
              </a:ext>
            </a:extLst>
          </p:cNvPr>
          <p:cNvSpPr txBox="1"/>
          <p:nvPr/>
        </p:nvSpPr>
        <p:spPr>
          <a:xfrm>
            <a:off x="1728050" y="7267707"/>
            <a:ext cx="2291287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This page allows registered users or employers to log in using their email and password.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provides secure access to the system and redirects users to their respective dashboards after successful 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login.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9(B)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231819" y="424652"/>
            <a:ext cx="163067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0EA81E-D408-1A06-6895-1BF3CA09E497}"/>
              </a:ext>
            </a:extLst>
          </p:cNvPr>
          <p:cNvSpPr txBox="1"/>
          <p:nvPr/>
        </p:nvSpPr>
        <p:spPr>
          <a:xfrm>
            <a:off x="2264133" y="1600443"/>
            <a:ext cx="5257800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Employer Register Page</a:t>
            </a:r>
          </a:p>
          <a:p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669F5E-D683-06DA-6F1A-B1A71266369B}"/>
              </a:ext>
            </a:extLst>
          </p:cNvPr>
          <p:cNvSpPr txBox="1"/>
          <p:nvPr/>
        </p:nvSpPr>
        <p:spPr>
          <a:xfrm>
            <a:off x="11441822" y="1697977"/>
            <a:ext cx="525780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Register Page</a:t>
            </a:r>
          </a:p>
          <a:p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E692DFD-6E98-89D6-2A9C-89F636006C8F}"/>
              </a:ext>
            </a:extLst>
          </p:cNvPr>
          <p:cNvCxnSpPr/>
          <p:nvPr/>
        </p:nvCxnSpPr>
        <p:spPr>
          <a:xfrm>
            <a:off x="9448800" y="1697977"/>
            <a:ext cx="0" cy="74841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B7FEEE79-064E-0A15-FBFE-E4CAD8F0AD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3653" y="2245318"/>
            <a:ext cx="5118100" cy="520665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94C98D5-12BD-D5FD-E0F6-1C69FF02AE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26527" y="2310266"/>
            <a:ext cx="4241800" cy="51417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40C4D3F-DFF1-7387-9727-D6C9D1977A6E}"/>
              </a:ext>
            </a:extLst>
          </p:cNvPr>
          <p:cNvSpPr txBox="1"/>
          <p:nvPr/>
        </p:nvSpPr>
        <p:spPr>
          <a:xfrm>
            <a:off x="1847181" y="7646357"/>
            <a:ext cx="6992009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recruiters to quickly and securely set up their company accounts.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Grants them immediate access to post new jobs and review applicants.</a:t>
            </a:r>
          </a:p>
          <a:p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43BE5EF-F4AB-971A-A050-FCADB14F2D25}"/>
              </a:ext>
            </a:extLst>
          </p:cNvPr>
          <p:cNvSpPr txBox="1"/>
          <p:nvPr/>
        </p:nvSpPr>
        <p:spPr>
          <a:xfrm>
            <a:off x="10160272" y="7646356"/>
            <a:ext cx="7899125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Dynamically asks for specific academic details like department and year of study.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job seekers build a complete profile to easily search and apply for roles.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9(C)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719664" y="419941"/>
            <a:ext cx="15773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1A1FDE-E3AB-682A-64B7-DA145F23EB91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952C58-8480-45AF-A322-6DBD647D1E15}"/>
              </a:ext>
            </a:extLst>
          </p:cNvPr>
          <p:cNvSpPr txBox="1"/>
          <p:nvPr/>
        </p:nvSpPr>
        <p:spPr>
          <a:xfrm>
            <a:off x="2227934" y="1805887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031BE3-9C57-2E7D-40F4-6B31DF74E1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12177" y="2521302"/>
            <a:ext cx="6809944" cy="431260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3FBE2C6-0E94-B53C-89C1-4F637247F5B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62"/>
          <a:stretch>
            <a:fillRect/>
          </a:stretch>
        </p:blipFill>
        <p:spPr>
          <a:xfrm>
            <a:off x="9606364" y="2648112"/>
            <a:ext cx="6809944" cy="431260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3FD90F3-8C71-175F-1CA5-E92241D24C38}"/>
              </a:ext>
            </a:extLst>
          </p:cNvPr>
          <p:cNvSpPr txBox="1"/>
          <p:nvPr/>
        </p:nvSpPr>
        <p:spPr>
          <a:xfrm>
            <a:off x="1719664" y="7377484"/>
            <a:ext cx="15739705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secure, role-based registration and login system specifically tailored for both job seekers and recruiters.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Dynamically adapts the profile creation form to capture a student's academic details while keeping the employer registration fast and streamlined.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CD1C3-3E77-C0DC-877E-F959BFBB0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455FB9BB-1455-948E-D2C5-5EB81CB608E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A23A37-BBA5-629D-26FA-0F539333991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99D5CAF-94E8-7F3E-0EA0-798A0DF0E9D2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9(D)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73A0A779-6206-2F27-11E9-C7051EE4416A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A1FFC601-F9F9-92C5-6E88-2EB99EE3AEC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E8D4476-5D58-1941-B101-FC06E5EB3A8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9C61F5D5-C0B4-01E2-E664-F4016286D85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8E393F81-B573-26BC-85D0-5650C567B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32DEC27-04E1-F9A0-2119-011C61A64EC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64EAC25E-2539-EE41-A34D-01FCD7F21163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0B10597C-8D09-4B4F-CA61-A7F7B32404A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E10D26E9-CA84-C99D-90B5-6FD90B8C75E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278B3CC-6D6D-6702-8A4D-49DF8A6CB23F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C5D29140-877B-2693-B305-4A505C4DAEF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6FE70F8-3157-8BC1-3CD6-219D5287D9C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A61E70BA-E416-53DB-F154-B08E49E31DF8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54E9A4F-FDBA-FCED-F60B-89BBBA38237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0B720D19-00E4-DF0C-376C-D70BD28198A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BE1A484-524E-D6F0-2F2B-915B34AD5BB7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2658FE8D-00D8-E611-B25A-E225C7B2F5B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EDFFFE9C-F982-1826-0798-4627EDE171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C5D40126-7AB0-90C0-ED10-DF32F293DDFF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8D19506-6FF7-9FF8-3F01-F92B5B30698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577EE7D7-3740-D316-D056-766CEFA1DDA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BC6DA8C-C3DE-6C02-15F6-0B7AE214895F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BBBB4972-7DAA-EF1C-879E-C9BE2CFA6D2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1C38C172-56A5-B283-D902-28B9F072C2B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617316BF-E244-7B27-2946-076CE579735A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3933397C-0088-F1D4-AA2A-5FFBC9FD41E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BC7EDC08-1A40-7DC6-5376-7118CB55AFA9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121F48EC-B27A-58F4-E27F-0ACB120D8003}"/>
              </a:ext>
            </a:extLst>
          </p:cNvPr>
          <p:cNvSpPr txBox="1"/>
          <p:nvPr/>
        </p:nvSpPr>
        <p:spPr>
          <a:xfrm>
            <a:off x="1719664" y="419941"/>
            <a:ext cx="15773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C0D04A8-7188-4782-3D08-96F85C3B3604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A94CCA-DE45-C09E-70B0-A9D182C1D830}"/>
              </a:ext>
            </a:extLst>
          </p:cNvPr>
          <p:cNvSpPr txBox="1"/>
          <p:nvPr/>
        </p:nvSpPr>
        <p:spPr>
          <a:xfrm>
            <a:off x="2227934" y="1805887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42A5F2-D7F9-FFD1-78C2-9AE350EC54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19189" y="2506498"/>
            <a:ext cx="6392389" cy="431260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A648813-FA2C-ED0D-65E8-66FAE2641C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2" r="2934"/>
          <a:stretch>
            <a:fillRect/>
          </a:stretch>
        </p:blipFill>
        <p:spPr>
          <a:xfrm>
            <a:off x="9606364" y="2527815"/>
            <a:ext cx="6858000" cy="431260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AE4BD4D-EB57-2A0C-585B-115FE7F7A37B}"/>
              </a:ext>
            </a:extLst>
          </p:cNvPr>
          <p:cNvSpPr txBox="1"/>
          <p:nvPr/>
        </p:nvSpPr>
        <p:spPr>
          <a:xfrm>
            <a:off x="1719664" y="7377484"/>
            <a:ext cx="15739705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drives the primary business logic, enabling employers to seamlessly post new opportunities and manage incoming applicant data.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job seekers with an intuitive dashboard to instantly browse, filter, and apply for relevant roles with a single click.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0685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E918C-B644-F640-D02A-F3ADF3E65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8BB3A1-06F9-31DF-8390-8353E484F173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DACF8F70-1075-9799-2258-528D8ACE64E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C563B35A-3C75-B6B4-3AF3-64878D4281D0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9(E)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77BEEDF-D1C1-02BC-1B90-A46D753A284B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43F00E79-C764-97A6-6A48-4C682AB890E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7581D338-DD82-2E79-89D8-4C95AD958C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E92D502F-54E9-6D3B-89D8-2FFE03A7C8B7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A5FB8BA5-46F3-D433-7080-9B956773E49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960DC40-1320-3AC5-D648-565BB0DDD6A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D4B3D443-38F1-4CB8-08F7-5B6B8B746BC1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A4F2BDA-7570-12B5-F46D-7881F62849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059F5975-2B6B-186A-5F21-F370DAC1612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3B3B9D54-1AA8-0790-9D6E-CF9A23F97457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BB79D55B-E6F4-4099-910A-78D10BBF022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D6A3419A-E48C-8611-9FE6-A9F3FECB02C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127B0EF4-027E-1B16-22C1-F238C248D9BA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7177907-6B69-D041-F3E1-867848B7F01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6FCE2BCC-BFB1-2293-1385-4AF8058CB76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CD52DBC8-2118-1DB9-C269-CD89D760BDD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EDB12FAF-88BE-3C81-F29B-ABF31A717F5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70658F58-0548-24E5-7235-F1F4E41131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14E271BB-B271-E5C7-BEFE-2710511EABE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5732FC9-B5E2-458E-D5E1-720821FB946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DB01E6EB-BC4A-9D56-CEE6-E018AACC0D9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3EB154BE-632A-B11A-D2BB-2388585B519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E9AE22EF-2AA6-B835-053A-B03076D9F3B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4ED99FBE-AB51-6157-B6AF-B2355C86B9A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D500E4CB-678F-24CF-8E5F-FCC1122057E3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0E17FBB7-F817-1738-BFA9-66C2C4FA272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7D93B699-174D-07E4-0225-2631CB518038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5FFB6236-2587-42EA-D0C8-53230A2CA46B}"/>
              </a:ext>
            </a:extLst>
          </p:cNvPr>
          <p:cNvSpPr txBox="1"/>
          <p:nvPr/>
        </p:nvSpPr>
        <p:spPr>
          <a:xfrm>
            <a:off x="1719664" y="419941"/>
            <a:ext cx="15773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209FEF4-634A-3556-6AAD-902D6D625D99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A4ED249-638A-C2E2-1412-34632E6B7102}"/>
              </a:ext>
            </a:extLst>
          </p:cNvPr>
          <p:cNvSpPr txBox="1"/>
          <p:nvPr/>
        </p:nvSpPr>
        <p:spPr>
          <a:xfrm>
            <a:off x="2227934" y="1805887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Innovative Module 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F592D2-4ADB-290D-1CDE-D39A76983A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71800" y="2506498"/>
            <a:ext cx="5709837" cy="431260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E9DCF50-542B-A4C4-9B49-23776927CE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38" b="9738"/>
          <a:stretch/>
        </p:blipFill>
        <p:spPr>
          <a:xfrm>
            <a:off x="9606364" y="2527815"/>
            <a:ext cx="6858000" cy="431260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AF53B7C-F2DF-DAF8-8F24-67E5C6B991B7}"/>
              </a:ext>
            </a:extLst>
          </p:cNvPr>
          <p:cNvSpPr txBox="1"/>
          <p:nvPr/>
        </p:nvSpPr>
        <p:spPr>
          <a:xfrm>
            <a:off x="1719664" y="7377484"/>
            <a:ext cx="15739705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integrates cutting-edge technologies by featuring a Google Gemini-powered AI Chatbot for instant, 24/7 user guidance.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also utilizes OpenStreetMap APIs to provide dynamic, interactive geospatial mapping for precise job location targeting and reverse geocoding.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8966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4F2BA-FD67-88B5-D00A-FB42DF0E4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E523E47-FF12-EB4F-CE4E-15E2BD90E35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0BF7AEA-D128-304C-183A-EB3077D12DC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E5B44C9-58D3-B109-89D1-E8FFD2315F0E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9(F)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74E56993-8907-140B-5665-32E2F0E72519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A11C3DB8-7383-8D70-BB09-1A750F2C0F8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C6851A8C-42BC-3992-679E-AF3EB93D8C8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7FC4CA35-A97E-BE99-FA00-97839403BA62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06C0D29F-FB0D-BB96-D4AE-A8C22A8CB3E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DFDBF821-9269-FB5A-0458-881A0E029C5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4DA79A4-C081-806C-6C3A-C91A9D054D41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5FDCDD9-077E-974D-5AC5-094EB0F0F9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0BD027CC-442F-A18F-1E78-2F68E60EBF6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D8743EF0-28DB-F432-0FD1-1CA6C5202E92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836A8DF1-B551-FE2A-F144-BEB434B06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561A89A0-58F9-057C-6EDE-74C4F5446F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AF53D3D6-9FBD-55E1-7943-DBF89C0B7FD9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7FF8775B-97DF-7420-5EFD-8EB72B3097B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6E0800F5-9605-6E15-B0D5-CC1C1DEF93A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56835700-6327-3DF6-F246-625A9BB811E4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C045791B-6506-76B9-2340-8EB2633D35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88D1A950-C54D-5AC4-4D6C-4E7E3BDFD21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976B9CD8-6827-A492-006D-876430D4A63E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DE122907-AE55-D4AB-0A97-62A51C31AE4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1A2A6DCC-7E15-52F6-783E-563DE4EDE04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1B6F1BAB-47A0-DD22-93AF-14EAB24A610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D7F4897-BA88-6C0E-DA58-A9E65DADA3C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567B0E0F-78E1-D4C5-BB5E-6866A52ABF0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DA9535A-AF12-0C77-A819-68E316B95B01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B3566A7-7E62-ED9D-5F2B-3D6E594172E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966596B-4DE4-21F6-F8EB-0B1F9C6C8A90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D65E6BB-7A3E-1F80-BE43-504A3408DC11}"/>
              </a:ext>
            </a:extLst>
          </p:cNvPr>
          <p:cNvSpPr txBox="1"/>
          <p:nvPr/>
        </p:nvSpPr>
        <p:spPr>
          <a:xfrm>
            <a:off x="1491342" y="594142"/>
            <a:ext cx="159875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4CC6DFF-6FEB-8F4B-CAF5-E76C7611A2E6}"/>
              </a:ext>
            </a:extLst>
          </p:cNvPr>
          <p:cNvSpPr txBox="1"/>
          <p:nvPr/>
        </p:nvSpPr>
        <p:spPr>
          <a:xfrm>
            <a:off x="2209800" y="1638300"/>
            <a:ext cx="15082325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3177DF-34AF-881C-BCB8-8B1D28F88137}"/>
              </a:ext>
            </a:extLst>
          </p:cNvPr>
          <p:cNvSpPr txBox="1"/>
          <p:nvPr/>
        </p:nvSpPr>
        <p:spPr>
          <a:xfrm>
            <a:off x="2603708" y="1161246"/>
            <a:ext cx="15082325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algn="ctr"/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Screenshots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A3DA56-7B1A-28FE-5F7D-05F9912A4C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4628" y="2539225"/>
            <a:ext cx="15172464" cy="12897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D5B60BA-F8F1-83AF-54F6-5C09049C69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5647" y="4255275"/>
            <a:ext cx="15172465" cy="2355058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7BA3F904-135A-09ED-2476-9F730D7EC0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9184" y="7190955"/>
            <a:ext cx="15172464" cy="1457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8510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 dirty="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10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304800" y="501625"/>
            <a:ext cx="161229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FDDF64-218D-46E5-483F-03DA40189B48}"/>
              </a:ext>
            </a:extLst>
          </p:cNvPr>
          <p:cNvSpPr txBox="1"/>
          <p:nvPr/>
        </p:nvSpPr>
        <p:spPr>
          <a:xfrm>
            <a:off x="2181922" y="1712551"/>
            <a:ext cx="14436261" cy="7755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Assistance: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The integrated Google Gemini AI Chatbot provides instant, 24/7 support and guidance for all users.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Notifications: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The system sends real-time email updates, ensuring candidates are instantly informed about their application statuses.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Mapping: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Built-in geospatial mapping allows students to visually locate job opportunities and helps employers specify exact work locations.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Streamlined Workflow: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Creates a centralized, easy-to-use platform that effortlessly bridges the gap between recruiters and job seekers.</a:t>
            </a:r>
          </a:p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Payment Gateway: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The current system does not support monetization features like premium job postings or paid employer subscriptions.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Third-Party Dependency: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The AI Chatbot relies heavily on an external API (Google Gemini), meaning it requires an active internet connection and API key to function.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Analytics: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While highly functional, the platform currently lacks advanced, data-driven graphical analytics and complex reporting dashboards for employers.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421</TotalTime>
  <Words>1708</Words>
  <Application>Microsoft Macintosh PowerPoint</Application>
  <PresentationFormat>Custom</PresentationFormat>
  <Paragraphs>457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Calibri</vt:lpstr>
      <vt:lpstr>Aptos</vt:lpstr>
      <vt:lpstr>Times New Roman</vt:lpstr>
      <vt:lpstr>Gotham Bold Italics</vt:lpstr>
      <vt:lpstr>Cambria</vt:lpstr>
      <vt:lpstr>Gotham</vt:lpstr>
      <vt:lpstr>Bookman Old Style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cp:lastModifiedBy>sai charan</cp:lastModifiedBy>
  <cp:revision>15</cp:revision>
  <dcterms:created xsi:type="dcterms:W3CDTF">2006-08-16T00:00:00Z</dcterms:created>
  <dcterms:modified xsi:type="dcterms:W3CDTF">2026-05-05T19:05:20Z</dcterms:modified>
  <dc:identifier>DAHCaYqJ9OU</dc:identifier>
</cp:coreProperties>
</file>